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Overpass"/>
      <p:regular r:id="rId37"/>
      <p:bold r:id="rId38"/>
      <p:italic r:id="rId39"/>
      <p:boldItalic r:id="rId40"/>
    </p:embeddedFont>
    <p:embeddedFont>
      <p:font typeface="Source Code Pr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verpass-boldItalic.fntdata"/><Relationship Id="rId20" Type="http://schemas.openxmlformats.org/officeDocument/2006/relationships/slide" Target="slides/slide16.xml"/><Relationship Id="rId42" Type="http://schemas.openxmlformats.org/officeDocument/2006/relationships/font" Target="fonts/SourceCodePro-bold.fntdata"/><Relationship Id="rId41" Type="http://schemas.openxmlformats.org/officeDocument/2006/relationships/font" Target="fonts/SourceCodePro-regular.fntdata"/><Relationship Id="rId22" Type="http://schemas.openxmlformats.org/officeDocument/2006/relationships/slide" Target="slides/slide18.xml"/><Relationship Id="rId44" Type="http://schemas.openxmlformats.org/officeDocument/2006/relationships/font" Target="fonts/SourceCodePro-boldItalic.fntdata"/><Relationship Id="rId21" Type="http://schemas.openxmlformats.org/officeDocument/2006/relationships/slide" Target="slides/slide17.xml"/><Relationship Id="rId43" Type="http://schemas.openxmlformats.org/officeDocument/2006/relationships/font" Target="fonts/SourceCodePro-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bold.fntdata"/><Relationship Id="rId15" Type="http://schemas.openxmlformats.org/officeDocument/2006/relationships/slide" Target="slides/slide11.xml"/><Relationship Id="rId37" Type="http://schemas.openxmlformats.org/officeDocument/2006/relationships/font" Target="fonts/Overpass-regular.fntdata"/><Relationship Id="rId14" Type="http://schemas.openxmlformats.org/officeDocument/2006/relationships/slide" Target="slides/slide10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39" Type="http://schemas.openxmlformats.org/officeDocument/2006/relationships/font" Target="fonts/Overpass-italic.fntdata"/><Relationship Id="rId16" Type="http://schemas.openxmlformats.org/officeDocument/2006/relationships/slide" Target="slides/slide12.xml"/><Relationship Id="rId38" Type="http://schemas.openxmlformats.org/officeDocument/2006/relationships/font" Target="fonts/Overpas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e9401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e9401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e94015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e94015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e94015f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e94015f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e94015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e94015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e94015f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1e94015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e94015f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e94015f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e94015f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e94015f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e94015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e94015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e94015f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e94015f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e94015f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e94015f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e94015f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e94015f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e94015f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e94015f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e94015f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e94015f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e94015f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e94015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e94015f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e94015f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e94015fb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e94015fb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e94015f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e94015f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e94015f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1e94015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e94015f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e94015f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e94015f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e94015f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e94015fb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e94015fb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1e94015f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1e94015f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e94015fb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e94015fb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1e94015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1e94015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If, elif , else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to learn about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often only want certain code to execute when a particular condition has been met.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my dog is hungry (some condition), then I will feed the dog (some action).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control this flow of logic we use some keywords: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elif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Control Flow syntax makes use of colons and indentation (whitespace).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indentation system is crucial to Python and is what sets it apart from other programming languages.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2900">
              <a:solidFill>
                <a:srgbClr val="6FA8D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if/else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statement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if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execute some code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elif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some_other_condition: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different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 do something else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8" name="Google Shape;118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5" name="Google Shape;125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6" name="Google Shape;126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objects in Python are “iterable”, meaning we can iterate over every element in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Such as every element in a list or every character in a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for loops to execute a block of code for every iteration.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3" name="Google Shape;13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term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iterable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means you can “iterate” over the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you can iterate over every character in a string, iterate over every item in a list, iterate over every key in a dictionary.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49" name="Google Shape;149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57" name="Google Shape;157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653800" y="1785900"/>
            <a:ext cx="3948600" cy="62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2328800" y="2373150"/>
            <a:ext cx="20319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/>
          <p:nvPr/>
        </p:nvSpPr>
        <p:spPr>
          <a:xfrm>
            <a:off x="4362750" y="2359650"/>
            <a:ext cx="4185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/>
          <p:nvPr/>
        </p:nvSpPr>
        <p:spPr>
          <a:xfrm>
            <a:off x="4828500" y="2373150"/>
            <a:ext cx="20634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for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 = [1,2,3]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for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 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in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my_iterable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: </a:t>
            </a:r>
            <a:endParaRPr b="1" sz="3000">
              <a:solidFill>
                <a:srgbClr val="E0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print(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item_name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)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1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2</a:t>
            </a:r>
            <a:endParaRPr b="1" sz="3000">
              <a:solidFill>
                <a:srgbClr val="D54DAB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D54DAB"/>
                </a:solidFill>
                <a:latin typeface="Overpass"/>
                <a:ea typeface="Overpass"/>
                <a:cs typeface="Overpass"/>
                <a:sym typeface="Overpass"/>
              </a:rPr>
              <a:t>&gt;&gt; 3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4" name="Google Shape;19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/>
          <p:nvPr/>
        </p:nvSpPr>
        <p:spPr>
          <a:xfrm>
            <a:off x="2175750" y="2845650"/>
            <a:ext cx="3258000" cy="48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Loops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loops will continue to execute a block of code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some condition remains True.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pool is not full, keep filling my pool with water.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 dogs are still hungry, keep feeding my dogs.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of a while loop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10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</a:t>
            </a: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combine with an else if you want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while </a:t>
            </a:r>
            <a:r>
              <a:rPr b="1" lang="en" sz="3000">
                <a:solidFill>
                  <a:srgbClr val="E06666"/>
                </a:solidFill>
                <a:latin typeface="Overpass"/>
                <a:ea typeface="Overpass"/>
                <a:cs typeface="Overpass"/>
                <a:sym typeface="Overpass"/>
              </a:rPr>
              <a:t>some_boolean_condition: </a:t>
            </a:r>
            <a:r>
              <a:rPr b="1" lang="en" sz="30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        			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</a:t>
            </a:r>
            <a:endParaRPr b="1" sz="3000">
              <a:solidFill>
                <a:srgbClr val="6FA8DC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else: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r>
              <a:rPr b="1" lang="en" sz="3000">
                <a:solidFill>
                  <a:srgbClr val="6FA8DC"/>
                </a:solidFill>
                <a:latin typeface="Overpass"/>
                <a:ea typeface="Overpass"/>
                <a:cs typeface="Overpass"/>
                <a:sym typeface="Overpass"/>
              </a:rPr>
              <a:t>#do something different</a:t>
            </a:r>
            <a:endParaRPr b="1" sz="3000">
              <a:solidFill>
                <a:srgbClr val="274E13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Useful 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6" name="Google Shape;246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 Comprehensions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3" name="Google Shape;253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4" name="Google Shape;254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 Comprehensions are a unique way of quickly creating a list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find yourself using a for loop along with .append() to create a list, List Comprehensions are a good alternative!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do this, let’s go to a Jupyter Notebook!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1" name="Google Shape;261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2" name="Google Shape;26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ctrTitle"/>
          </p:nvPr>
        </p:nvSpPr>
        <p:spPr>
          <a:xfrm>
            <a:off x="311700" y="203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Statements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